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968401018e4455" /><Relationship Type="http://schemas.openxmlformats.org/officeDocument/2006/relationships/extended-properties" Target="/docProps/app.xml" Id="R2647f09eab694656" /><Relationship Type="http://schemas.openxmlformats.org/officeDocument/2006/relationships/officeDocument" Target="/ppt/presentation.xml" Id="Rcd4c634e374c40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00b91435354378"/>
  </p:sldMasterIdLst>
  <p:notesMasterIdLst>
    <p:notesMasterId xmlns:r="http://schemas.openxmlformats.org/officeDocument/2006/relationships" r:id="Rc132edcf04074630"/>
  </p:notesMasterIdLst>
  <p:sldIdLst>
    <p:sldId xmlns:r="http://schemas.openxmlformats.org/officeDocument/2006/relationships" id="256" r:id="R288d87f870cd4ac5"/>
    <p:sldId xmlns:r="http://schemas.openxmlformats.org/officeDocument/2006/relationships" id="257" r:id="R1210d4843aca44d5"/>
    <p:sldId xmlns:r="http://schemas.openxmlformats.org/officeDocument/2006/relationships" id="258" r:id="Rd96d7f662ab44861"/>
    <p:sldId xmlns:r="http://schemas.openxmlformats.org/officeDocument/2006/relationships" id="259" r:id="Rcf83e27824614f83"/>
    <p:sldId xmlns:r="http://schemas.openxmlformats.org/officeDocument/2006/relationships" id="260" r:id="R940a96ec7618441d"/>
    <p:sldId xmlns:r="http://schemas.openxmlformats.org/officeDocument/2006/relationships" id="261" r:id="R806b93fc355845f6"/>
    <p:sldId xmlns:r="http://schemas.openxmlformats.org/officeDocument/2006/relationships" id="262" r:id="R95e1d7e16f7544ac"/>
    <p:sldId xmlns:r="http://schemas.openxmlformats.org/officeDocument/2006/relationships" id="263" r:id="R704ffc0a95674e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b1ab16bc24440" /><Relationship Type="http://schemas.openxmlformats.org/officeDocument/2006/relationships/slideMaster" Target="/ppt/slideMasters/slideMaster1.xml" Id="R4e00b91435354378" /><Relationship Type="http://schemas.openxmlformats.org/officeDocument/2006/relationships/notesMaster" Target="/ppt/notesMasters/notesMaster1.xml" Id="Rc132edcf04074630" /><Relationship Type="http://schemas.openxmlformats.org/officeDocument/2006/relationships/presProps" Target="/ppt/presProps.xml" Id="R9f282966c4f34b96" /><Relationship Type="http://schemas.openxmlformats.org/officeDocument/2006/relationships/tableStyles" Target="/ppt/tableStyles.xml" Id="Rbcdacc8685814a2a" /><Relationship Type="http://schemas.openxmlformats.org/officeDocument/2006/relationships/slide" Target="/ppt/slides/slide1.xml" Id="R288d87f870cd4ac5" /><Relationship Type="http://schemas.openxmlformats.org/officeDocument/2006/relationships/slide" Target="/ppt/slides/slide2.xml" Id="R1210d4843aca44d5" /><Relationship Type="http://schemas.openxmlformats.org/officeDocument/2006/relationships/slide" Target="/ppt/slides/slide3.xml" Id="Rd96d7f662ab44861" /><Relationship Type="http://schemas.openxmlformats.org/officeDocument/2006/relationships/slide" Target="/ppt/slides/slide4.xml" Id="Rcf83e27824614f83" /><Relationship Type="http://schemas.openxmlformats.org/officeDocument/2006/relationships/slide" Target="/ppt/slides/slide5.xml" Id="R940a96ec7618441d" /><Relationship Type="http://schemas.openxmlformats.org/officeDocument/2006/relationships/slide" Target="/ppt/slides/slide6.xml" Id="R806b93fc355845f6" /><Relationship Type="http://schemas.openxmlformats.org/officeDocument/2006/relationships/slide" Target="/ppt/slides/slide7.xml" Id="R95e1d7e16f7544ac" /><Relationship Type="http://schemas.openxmlformats.org/officeDocument/2006/relationships/slide" Target="/ppt/slides/slide8.xml" Id="R704ffc0a95674e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2d3a226f8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2d04d7075b43fa" /><Relationship Type="http://schemas.openxmlformats.org/officeDocument/2006/relationships/notesMaster" Target="/ppt/notesMasters/notesMaster1.xml" Id="R847e94bf8a904c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1948560aa4573" /><Relationship Type="http://schemas.openxmlformats.org/officeDocument/2006/relationships/notesMaster" Target="/ppt/notesMasters/notesMaster1.xml" Id="R1d7a6886d0a049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31573893f54a6c" /><Relationship Type="http://schemas.openxmlformats.org/officeDocument/2006/relationships/notesMaster" Target="/ppt/notesMasters/notesMaster1.xml" Id="Re119cf325f8145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babb945e14433f" /><Relationship Type="http://schemas.openxmlformats.org/officeDocument/2006/relationships/notesMaster" Target="/ppt/notesMasters/notesMaster1.xml" Id="R0777fdca9d8a42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87f466de294475" /><Relationship Type="http://schemas.openxmlformats.org/officeDocument/2006/relationships/notesMaster" Target="/ppt/notesMasters/notesMaster1.xml" Id="R8bd0accbc409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4b6c9b42e944e5" /><Relationship Type="http://schemas.openxmlformats.org/officeDocument/2006/relationships/notesMaster" Target="/ppt/notesMasters/notesMaster1.xml" Id="Rf7fcd3b788f047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3f8b5a8ff94d3f" /><Relationship Type="http://schemas.openxmlformats.org/officeDocument/2006/relationships/notesMaster" Target="/ppt/notesMasters/notesMaster1.xml" Id="R949aebac6cc844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9d47cf5dab48a1" /><Relationship Type="http://schemas.openxmlformats.org/officeDocument/2006/relationships/notesMaster" Target="/ppt/notesMasters/notesMaster1.xml" Id="R7e902058e863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Работающий демонстрационный MVP с вымышленными данными: https://marshrut.aansl.com. Гипотеза проблемы пока требует проверки. Изображение создано для презентации и не изображает реальный офис университета. Источник требований: https://fintechacademy.ru/task-2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Трек прямо называет задержки маршрута согласования и передачу задач между подразделениями примерами проблем. Формулировка слайда — гипотеза команды, требующая CustDev. https://fintechacademy.ru/task-2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концепция продукта. Подключение к конкретной системе документооборота пока не проверено; формат интеграции определится в пилоте.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реализован в демонстрационном MVP для трёх типов заявки. Загрузка файлов и интеграция с документооборотом пока не реализованы. Данные вымышлены.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https://marshrut.aansl.com. Реализованы три типа заявки, четыре демонстрационные роли, решения, возврат, повторная отправка и аналитика руководителя. Все данные вымышлены; интеграций и загрузки файлов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Параметры пилота — предложение команды; договоренность с заказчиком еще не получена. Метрики задают проверяемую ценность, фактическая база будет измерена до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Формула: 200 заявок/мес × 12 мес × 10 мин / 60 = 400 ч/год; × 800 ₽/ч = 320 000 ₽/год. Все числа — условные допущения команды, не данные Финансового университета. Не включает стоимость разработки и эксплуатации.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MVP уже доступен; следующие задачи — CustDev и базовые метрики. Для первого спринта трек требует подтверждения проблемы и оценки охвата. К финалу обязательны опрос не менее 30 и 10 проблемных интервью с записью или обезличенной расшифровкой; https://fintechacademy.ru/task-2. Исследование и пилот еще не выполнены.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4e459c74b42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f7e39dc8e4541" /><Relationship Type="http://schemas.openxmlformats.org/officeDocument/2006/relationships/slideLayout" Target="/ppt/slideLayouts/slideLayout1.xml" Id="Rb0185bb0505246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185bb0505246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954a231ec4ea3" /><Relationship Type="http://schemas.openxmlformats.org/officeDocument/2006/relationships/image" Target="/ppt/media/image.png" Id="R547e1c6ad1734f39" /><Relationship Type="http://schemas.openxmlformats.org/officeDocument/2006/relationships/notesSlide" Target="/ppt/notesSlides/notesSlide1.xml" Id="R281fb217746e4a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9cb9687c34848" /><Relationship Type="http://schemas.openxmlformats.org/officeDocument/2006/relationships/notesSlide" Target="/ppt/notesSlides/notesSlide2.xml" Id="Rc7d5255b6f4245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19c3af99a46f6" /><Relationship Type="http://schemas.openxmlformats.org/officeDocument/2006/relationships/notesSlide" Target="/ppt/notesSlides/notesSlide3.xml" Id="R2b190faf21a042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7221c0b914cfc" /><Relationship Type="http://schemas.openxmlformats.org/officeDocument/2006/relationships/notesSlide" Target="/ppt/notesSlides/notesSlide4.xml" Id="R6467ea7799bf45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0a432d7034f0f" /><Relationship Type="http://schemas.openxmlformats.org/officeDocument/2006/relationships/notesSlide" Target="/ppt/notesSlides/notesSlide5.xml" Id="R688c7149449442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40490bcd345c9" /><Relationship Type="http://schemas.openxmlformats.org/officeDocument/2006/relationships/notesSlide" Target="/ppt/notesSlides/notesSlide6.xml" Id="Rc3aa14fc6ce242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3576353b4470f" /><Relationship Type="http://schemas.openxmlformats.org/officeDocument/2006/relationships/notesSlide" Target="/ppt/notesSlides/notesSlide7.xml" Id="R7711af97cb5a44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e0f778bfd49c7" /><Relationship Type="http://schemas.openxmlformats.org/officeDocument/2006/relationships/notesSlide" Target="/ppt/notesSlides/notesSlide8.xml" Id="Ra7e063534e85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e1c6ad1734f39"/>
          <a:srcRect xmlns:a="http://schemas.openxmlformats.org/drawingml/2006/main" l="25768" t="0" r="257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67A96-8A4F-4443-B9CD-09AECDB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ЭФФЕКТИВНОСТЬ 360  /  БИЗНЕС-ПРОЦЕССЫ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B3D41-3B5F-4B6C-808D-5FF1CA5B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5857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670C8-FA3E-4504-935F-B385990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485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C3520-26A7-4F7D-8333-EEC093AD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32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Прозрачное согласование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232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внутренних документов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F1E33-9D64-45BB-8F91-857A961E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Работающий MVP · marshrut.aansl.com</a:t>
            </a:r>
          </a:p>
        </p:txBody>
      </p:sp>
    </p:spTree>
    <p:extLst>
      <p:ext uri="{BB962C8B-B14F-4D97-AF65-F5344CB8AC3E}">
        <p14:creationId xmlns:p14="http://schemas.microsoft.com/office/powerpoint/2010/main" val="1391367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D6A80-5AD0-45D6-982A-FFAFC0A1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01 / 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2CC1F-975B-4D47-89A6-03AB29E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800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Согласование теряет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800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прозрачность на стыках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47A6B-14FD-4B78-9819-692DDCB0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25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D0775-73B3-4456-966E-AABF627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Инициатор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3C90D-0C1A-4CD1-AFD5-2B31E90D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не видит, где документ</a:t>
            </a:r>
          </a:p>
          <a:p xmlns:a="http://schemas.openxmlformats.org/drawingml/2006/main">
            <a:pPr>
              <a:defRPr sz="18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и кто держит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03BCF-3A5F-4698-AC37-B05CFFB3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Согласующий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3621D-ACAC-45AE-82F5-7FDAE7FB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14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получает запросы вне</a:t>
            </a:r>
          </a:p>
          <a:p xmlns:a="http://schemas.openxmlformats.org/drawingml/2006/main">
            <a:pPr>
              <a:defRPr sz="18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единого маршрута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A75D3-9A17-4DEF-B68E-D91C5032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7B022-15E7-4433-9D3D-F7FFB5AF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14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видит итог, но не видит</a:t>
            </a:r>
          </a:p>
          <a:p xmlns:a="http://schemas.openxmlformats.org/drawingml/2006/main">
            <a:pPr>
              <a:defRPr sz="18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узкие места процесса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36252-3E95-4423-A55A-E7A86D8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Гипотеза для проверки в интервью, не измеренный факт.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41C21-E4FF-416A-A501-4A12D44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CODEMASTERS  /  ФИНТЕХ АКАДЕМИЯ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2D1AF-A4CE-4F67-ABE8-C057EE61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0104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547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F31B4-0D29-431B-A13D-93B2663B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/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2D9A7-650D-45DA-8A80-08D8C1F6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маршрут.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Видно каждый шаг.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07619-6FB1-4615-A2D5-2149AA04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FE825-4D57-46B8-9CCA-038882F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10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МАРШРУТ — слой контроля над действующим документооборотом: владелец этапа, срок, причина задержки и история решения в одном месте.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BDCFE-954A-48BA-8956-5869DA10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CODEMASTERS  /  ФИНТЕХ АКАДЕМИЯ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7E9A5-6670-4871-BCA5-F8A42D4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4725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05B3F-9F1F-4C72-988D-C8613502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03 /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01342-77E7-45C6-AF0A-EDD2810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От заявки до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63F07-8C67-476B-969E-DE0FF370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54BAA-D587-4CAE-8F41-F17921E4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A1464-FF24-4029-8AE7-9CC90BBB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Создать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BF6DD-1AAF-43BB-B692-074F25C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Инициатор выбирает тип и описывает заявку.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66EE-0AEE-47DE-9C16-13D4E1F7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66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87FE1-5CE9-41F7-8373-9A71DF2B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Направить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3F62C-2E97-401F-995C-BDA05DD6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62375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Маршрут назначает ответственных и сроки этапов.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2E2CB-3C2F-46E9-BEEE-4FD8B82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BF67F-BE3E-4B85-9483-F78E95DA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Согласовать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C188F-B99F-4516-A934-99504F1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Участник принимает решение или возвращает с причиной.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41C14-00CE-42D2-B1A7-A48F872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66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C0C48-8A60-4F58-B76E-D9397326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623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Увидеть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ACF1B-C95D-4B9A-A172-89B526A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62375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Все видят статус; руководитель — задержки.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DF981-3668-473B-B072-45141517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CODEMASTERS  /  ФИНТЕХ АКАДЕМИЯ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CB53C-81C0-44ED-AD63-D55233FB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5940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68A3B-17D5-4C62-A1CF-E5A0722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/ ПЕРВАЯ ВЕРСИЯ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58A1D-F6C0-49A1-9C3F-50914B8A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работает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54C39-A0CF-4FFE-BED6-C97C1B70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6FDE6-8100-43B9-B49A-1F7615F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типа заявок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A6C66-16E6-44B4-904C-5C94AA3D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заданным маршрутом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B3F5D-E562-4B9F-ABAA-C46BAD86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D5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2CB3E-D7F5-4AF6-B754-D93D566A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4BFA7-16EC-41B6-8009-BD7988CB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Роли и права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4838E-F501-41CF-B442-AD79229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24225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каждого согласующего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BC11A-7097-4099-A7B9-DB39784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D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8361A-7D04-4BCF-A6A5-ED4C669D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E8877-16CC-4D8A-832A-9D90A4AD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История решений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F8225-A39C-4C0D-8DD4-35B55B0B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причины возврата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0F17D-6CFD-49DC-8856-750FDCFD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D5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0A53C-7D8F-45B3-B836-582611B0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38EB4-390D-4794-9AF4-0620E95E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69D80-6E93-46B6-973B-4C72187B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срокам и статусам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580DD-6B1B-4514-9771-767D9590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D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C364F-A36E-4561-B785-61E1558F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CODEMASTERS  /  ФИНТЕХ АКАДЕМИЯ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AD73D-A0E7-4C21-B954-D133030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7114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32662-F462-4716-B43C-4AEDD906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05 /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42942-69FA-4729-99BF-97CEB815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9810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800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Четыре недели.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800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Один процесс.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4D0A4-D079-44F4-9047-11A3CEC7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Предложение: начать с одного подразделения и одного частого типа документа. Сравнить его путь до и после запуска.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2CCCB-E067-4B0A-9E04-6BAF8BD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44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704AB-310D-4487-A4EE-D163542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Измерить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01B59-2E77-4D84-83B5-864F383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медианное время согласования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2387B-BEEC-4047-AF73-2713A36A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5777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долю просроченных этапов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C683F-4DA9-4834-AB5F-25DD8CC9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57775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число запросов статуса вручную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652E1-936F-4784-A5EE-183276F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CODEMASTERS  /  ФИНТЕХ АКАДЕМИЯ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07DAE-5C93-47D8-A2BA-14D18E5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949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94F72-1422-4433-8BAE-1A6575B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06 / ПРЕДВАРИТЕЛЬНАЯ ЭКОНОМИКА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0015C-9B0C-46B8-B3BB-BA83E747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572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575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Цена задержки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575" b="1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A1A18"/>
                </a:solidFill>
                <a:latin typeface="Arial"/>
                <a:ea typeface="Arial"/>
                <a:cs typeface="Arial"/>
              </a:rPr>
              <a:t>измеряется временем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5805D-07A5-4F92-9023-58F9EB5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94064-6464-4931-A669-B6F38702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333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2F960-0BC1-4C99-ABA5-4AA7FF6F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заявок в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56D4-A00F-4563-8200-C256412D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62300"/>
            <a:ext cx="2333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×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68493-77A9-4768-BDBE-352C964A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71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минут ручной работы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2D0E7-3FC0-4430-88B8-FA9739B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32956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2547D9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547D9"/>
                </a:solidFill>
                <a:latin typeface="Arial"/>
                <a:ea typeface="Arial"/>
                <a:cs typeface="Arial"/>
              </a:rPr>
              <a:t>= 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8DB57-6A38-4BD6-A158-43EDB555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A1A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A18"/>
                </a:solidFill>
                <a:latin typeface="Arial"/>
                <a:ea typeface="Arial"/>
                <a:cs typeface="Arial"/>
              </a:rPr>
              <a:t>часов в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0D055-2D0F-45EE-8933-D1496F5F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Иллюстративный сценарий: 400 ч × 800 ₽/ч = 320 тыс. ₽ в год. Все входные допущения проверяются на пилоте; это не прогноз университета.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D0294-74B7-404A-ADFD-B9FA6EE4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CODEMASTERS  /  ФИНТЕХ АКАДЕМИЯ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BA0B7-786D-4E04-A51F-C58E08B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040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547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65FBD-CD7E-4FD6-B24A-F23288F5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 / БЛИЖАЙШИЙ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4F14E-F87D-4471-BD1D-E6FB7DB0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68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Проверить проблему.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Подготовить пилот.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21C91-EC86-41D2-AD8A-512BAADB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ED74F-ADED-4222-808F-887ED59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1 ноября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8C085-26E4-4C89-A4BB-08D7C40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интервью с артефактами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B0C4D-38DE-480B-9BA7-4BB75202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Опрос ≥ 30 респондентов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EC03A-F75A-4386-977C-747376C5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Базовые метрики и карта процесса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FC147-4F58-429A-99B8-C563F507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CODEMASTERS  /  ФИНТЕХ АКАДЕМИЯ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0A439-D16D-4A64-B72A-13EDD7F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0337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2026-10-11T18:43:30.4760000Z</dcterms:created>
  <dcterms:modified xsi:type="dcterms:W3CDTF">2026-10-11T18:43:30.4760000Z</dcterms:modified>
</coreProperties>
</file>